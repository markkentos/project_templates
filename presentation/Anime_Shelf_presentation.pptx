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2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4x3"/>
  <p:notesSz cx="6858000" cy="9144000"/>
  <p:defaultTextStyle>
    <a:defPPr>
      <a:defRPr lang="ru-RU"/>
    </a:defPPr>
    <a:lvl1pPr marL="342900" indent="-171450">
      <a:defRPr sz="22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izBarState="restored" vertBarState="restored">
    <p:restoredLeft sz="15620"/>
    <p:restoredTop sz="94660"/>
  </p:normalViewPr>
  <p:slideViewPr>
    <p:cSldViewPr snapToGrid="1" snapToObjects="1" showGuides="1"/>
  </p:slideViewPr>
  <p:guideLst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Master" Target="slideMasters/slide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/>
      </a:lvl1pPr>
    </p:titleStyle>
    <p:bodyStyle>
      <a:lvl1pPr marL="342900" indent="-171450">
        <a:defRPr sz="2200"/>
      </a:lvl1pPr>
    </p:bodyStyle>
    <p:otherStyle>
      <a:def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Anime Shelf</a:t>
            </a:r>
            <a:endParaRPr lang="ru-RU" sz="3000"/>
          </a:p>
        </p:txBody>
      </p:sp>
      <p:sp>
        <p:nvSpPr>
          <p:cNvPr id="3" name="Subtitle 1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Интернет-магазин аниме атрибутики на Django</a:t>
            </a:r>
            <a:endParaRPr lang="ru-RU" sz="1800"/>
          </a:p>
        </p:txBody>
      </p:sp>
      <p:sp>
        <p:nvSpPr>
          <p:cNvPr id="4" name="Body 1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Семестровый проект по паттернам проектирования.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Формат: локальное веб-приложение с БД, UI, аналитикой и демонстрацией паттернов.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Цель: показать работающую систему и понимание примененных архитектурных решений.</a:t>
            </a:r>
            <a:endParaRPr lang="ru-RU" sz="2200" dirty="0"/>
          </a:p>
        </p:txBody>
      </p:sp>
      <p:sp>
        <p:nvSpPr>
          <p:cNvPr id="5" name="Footer 1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Идея Проекта</a:t>
            </a:r>
            <a:endParaRPr lang="ru-RU" sz="3000"/>
          </a:p>
        </p:txBody>
      </p:sp>
      <p:sp>
        <p:nvSpPr>
          <p:cNvPr id="3" name="Subtitle 2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Что делает приложение</a:t>
            </a:r>
            <a:endParaRPr lang="ru-RU" sz="1800"/>
          </a:p>
        </p:txBody>
      </p:sp>
      <p:sp>
        <p:nvSpPr>
          <p:cNvPr id="4" name="Body 2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Покупатель просматривает каталог, находит товар, кладет его в корзину и оформляет заказ.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При оформлении система применяет стратегии цены и доставки.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Менеджер получает заполненную БД, журнал событий процесса и аналитику спроса.</a:t>
            </a:r>
            <a:endParaRPr lang="ru-RU" sz="2200" dirty="0"/>
          </a:p>
        </p:txBody>
      </p:sp>
      <p:sp>
        <p:nvSpPr>
          <p:cNvPr id="5" name="Footer 2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Этапы По ТЗ</a:t>
            </a:r>
            <a:endParaRPr lang="ru-RU" sz="3000"/>
          </a:p>
        </p:txBody>
      </p:sp>
      <p:sp>
        <p:nvSpPr>
          <p:cNvPr id="3" name="Subtitle 3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Что уже закрыто в проекте</a:t>
            </a:r>
            <a:endParaRPr lang="ru-RU" sz="1800"/>
          </a:p>
        </p:txBody>
      </p:sp>
      <p:sp>
        <p:nvSpPr>
          <p:cNvPr id="4" name="Body 3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Этап 1: приложение, модели БД, BPMN, сущности и математическая модель.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Этап 2: ERD, seed данных, Template Method, Strategy, Abstract Factory, Decorator.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Этап 3: State, Adapter, Observer, Command и генерация элементов через шаблонный метод.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Этап 4: пользовательский интерфейс, Proxy, Composite, Iterator и финальная диаграмма классов.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Этап 5: подготовлены use case, рассказ и материалы для демонстрации.</a:t>
            </a:r>
            <a:endParaRPr lang="ru-RU" sz="2200" dirty="0"/>
          </a:p>
        </p:txBody>
      </p:sp>
      <p:sp>
        <p:nvSpPr>
          <p:cNvPr id="5" name="Footer 3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Основные Бизнес-Процессы</a:t>
            </a:r>
            <a:endParaRPr lang="ru-RU" sz="3000"/>
          </a:p>
        </p:txBody>
      </p:sp>
      <p:sp>
        <p:nvSpPr>
          <p:cNvPr id="3" name="Subtitle 4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Отражены в BPMN</a:t>
            </a:r>
            <a:endParaRPr lang="ru-RU" sz="1800"/>
          </a:p>
        </p:txBody>
      </p:sp>
      <p:sp>
        <p:nvSpPr>
          <p:cNvPr id="4" name="Body 4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Покупка товара: каталог -&gt; корзина -&gt; выбор стратегии -&gt; checkout -&gt; заказ -&gt; события -&gt; журнал.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Наполнение каталога: seed-команда -&gt; фабрики -&gt; декораторы -&gt; товары -&gt; точки продаж -&gt; прогноз.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На диаграммах BPMN и Use Case показаны и пользовательские действия, и работа системы.</a:t>
            </a:r>
            <a:endParaRPr lang="ru-RU" sz="2200" dirty="0"/>
          </a:p>
        </p:txBody>
      </p:sp>
      <p:sp>
        <p:nvSpPr>
          <p:cNvPr id="5" name="Footer 4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База Данных И Сущности</a:t>
            </a:r>
            <a:endParaRPr lang="ru-RU" sz="3000"/>
          </a:p>
        </p:txBody>
      </p:sp>
      <p:sp>
        <p:nvSpPr>
          <p:cNvPr id="3" name="Subtitle 5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Ключевые сущности системы</a:t>
            </a:r>
            <a:endParaRPr lang="ru-RU" sz="1800"/>
          </a:p>
        </p:txBody>
      </p:sp>
      <p:sp>
        <p:nvSpPr>
          <p:cNvPr id="4" name="Body 5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Каталог: Category, Product, Review.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Покупка: Customer, Cart, CartItem, Order, OrderItem.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Аналитика и промо: Promotion, SalesPoint.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Мониторинг процесса: ProcessLog.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ERD показывает связи между каталогом, заказами, отзывами и точками продаж.</a:t>
            </a:r>
            <a:endParaRPr lang="ru-RU" sz="2200" dirty="0"/>
          </a:p>
        </p:txBody>
      </p:sp>
      <p:sp>
        <p:nvSpPr>
          <p:cNvPr id="5" name="Footer 5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Математическая Модель</a:t>
            </a:r>
            <a:endParaRPr lang="ru-RU" sz="3000"/>
          </a:p>
        </p:txBody>
      </p:sp>
      <p:sp>
        <p:nvSpPr>
          <p:cNvPr id="3" name="Subtitle 6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Прогноз спроса по продажам</a:t>
            </a:r>
            <a:endParaRPr lang="ru-RU" sz="1800"/>
          </a:p>
        </p:txBody>
      </p:sp>
      <p:sp>
        <p:nvSpPr>
          <p:cNvPr id="4" name="Body 6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Используется линейный тренд продаж y = ax + b.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Входные данные: недельные точки SalesPoint для товара.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Результат: направление спроса и прогноз продаж на следующую неделю.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Модель применяется на главной странице и в карточке товара.</a:t>
            </a:r>
            <a:endParaRPr lang="ru-RU" sz="2200" dirty="0"/>
          </a:p>
        </p:txBody>
      </p:sp>
      <p:sp>
        <p:nvSpPr>
          <p:cNvPr id="5" name="Footer 6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Паттерны Этапов 1-2</a:t>
            </a:r>
            <a:endParaRPr lang="ru-RU" sz="3000"/>
          </a:p>
        </p:txBody>
      </p:sp>
      <p:sp>
        <p:nvSpPr>
          <p:cNvPr id="3" name="Subtitle 7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Базовая бизнес-логика</a:t>
            </a:r>
            <a:endParaRPr lang="ru-RU" sz="1800"/>
          </a:p>
        </p:txBody>
      </p:sp>
      <p:sp>
        <p:nvSpPr>
          <p:cNvPr id="4" name="Body 7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Strategy: расчет скидок и вариантов доставки.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Singleton: настройки магазина, EventBus и реестры стратегий.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Template Method: сценарий оформления заказа и генерация каталога.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Abstract Factory: создание разных типов мерча.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Decorator: добавление limited edition и gift wrap к данным товара.</a:t>
            </a:r>
            <a:endParaRPr lang="ru-RU" sz="2200" dirty="0"/>
          </a:p>
        </p:txBody>
      </p:sp>
      <p:sp>
        <p:nvSpPr>
          <p:cNvPr id="5" name="Footer 7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Паттерны Этапов 3-4</a:t>
            </a:r>
            <a:endParaRPr lang="ru-RU" sz="3000"/>
          </a:p>
        </p:txBody>
      </p:sp>
      <p:sp>
        <p:nvSpPr>
          <p:cNvPr id="3" name="Subtitle 8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Интеграция, процессы и UI</a:t>
            </a:r>
            <a:endParaRPr lang="ru-RU" sz="1800"/>
          </a:p>
        </p:txBody>
      </p:sp>
      <p:sp>
        <p:nvSpPr>
          <p:cNvPr id="4" name="Body 8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State: жизненный цикл заказа и допустимые переходы между статусами.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Observer: журнал процесса, уведомления и контроль низкого остатка.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Command: add to cart, update cart, checkout и смена статуса заказа.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Adapter: подключение модуля трендов к рекомендациям магазина.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Proxy: кэширование клиентского каталога.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Composite и Iterator: дерево категорий и товаров для пользовательского представления.</a:t>
            </a:r>
            <a:endParaRPr lang="ru-RU" sz="2200" dirty="0"/>
          </a:p>
        </p:txBody>
      </p:sp>
      <p:sp>
        <p:nvSpPr>
          <p:cNvPr id="5" name="Footer 8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Сценарии Использования</a:t>
            </a:r>
            <a:endParaRPr lang="ru-RU" sz="3000"/>
          </a:p>
        </p:txBody>
      </p:sp>
      <p:sp>
        <p:nvSpPr>
          <p:cNvPr id="3" name="Subtitle 9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Обновленный Use Case</a:t>
            </a:r>
            <a:endParaRPr lang="ru-RU" sz="1800"/>
          </a:p>
        </p:txBody>
      </p:sp>
      <p:sp>
        <p:nvSpPr>
          <p:cNvPr id="4" name="Body 9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Покупатель: просмотреть каталог, найти товар, открыть карточку, добавить в корзину, выбрать скидку и доставку, оформить заказ, отслеживать статус.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Менеджер: управлять каталогом, заполнять демо-БД, анализировать спрос, просматривать журнал процесса.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Ключевой сценарий: оформление заказа включает выбор стратегий и порождает события процесса.</a:t>
            </a:r>
            <a:endParaRPr lang="ru-RU" sz="2200" dirty="0"/>
          </a:p>
        </p:txBody>
      </p:sp>
      <p:sp>
        <p:nvSpPr>
          <p:cNvPr id="5" name="Footer 9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Маршрут Демонстрации</a:t>
            </a:r>
            <a:endParaRPr lang="ru-RU" sz="3000"/>
          </a:p>
        </p:txBody>
      </p:sp>
      <p:sp>
        <p:nvSpPr>
          <p:cNvPr id="3" name="Subtitle 10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Что показывать на защите</a:t>
            </a:r>
            <a:endParaRPr lang="ru-RU" sz="1800"/>
          </a:p>
        </p:txBody>
      </p:sp>
      <p:sp>
        <p:nvSpPr>
          <p:cNvPr id="4" name="Body 10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Открыть главную страницу и поиск по каталогу.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Показать карточку товара и блок прогноза спроса.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Добавить товар в корзину, переключить скидку и доставку.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Оформить заказ и поменять его состояния.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Открыть страницы /patterns/ и /tree/ для сводной демонстрации паттернов.</a:t>
            </a:r>
            <a:endParaRPr lang="ru-RU" sz="2200" dirty="0"/>
          </a:p>
        </p:txBody>
      </p:sp>
      <p:sp>
        <p:nvSpPr>
          <p:cNvPr id="5" name="Footer 10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/>
          <p:nvPr/>
        </p:nvSpPr>
        <p:spPr>
          <a:xfrm>
            <a:off x="685800" y="457200"/>
            <a:ext cx="10972800" cy="685800"/>
          </a:xfrm>
        </p:spPr>
        <p:txBody>
          <a:bodyPr/>
          <a:lstStyle/>
          <a:p>
            <a:r>
              <a:rPr lang="ru-RU" sz="3000" b="1"/>
              <a:t>Итог</a:t>
            </a:r>
            <a:endParaRPr lang="ru-RU" sz="3000"/>
          </a:p>
        </p:txBody>
      </p:sp>
      <p:sp>
        <p:nvSpPr>
          <p:cNvPr id="3" name="Subtitle 11"/>
          <p:cNvSpPr/>
          <p:nvPr/>
        </p:nvSpPr>
        <p:spPr>
          <a:xfrm>
            <a:off x="685800" y="1280160"/>
            <a:ext cx="9144000" cy="457200"/>
          </a:xfrm>
        </p:spPr>
        <p:txBody>
          <a:bodyPr/>
          <a:lstStyle/>
          <a:p>
            <a:r>
              <a:rPr lang="ru-RU" sz="1800" b="1">
                <a:solidFill>
                  <a:srgbClr val="D83A52"/>
                </a:solidFill>
              </a:rPr>
              <a:t>Что важно подчеркнуть в защите</a:t>
            </a:r>
            <a:endParaRPr lang="ru-RU" sz="1800"/>
          </a:p>
        </p:txBody>
      </p:sp>
      <p:sp>
        <p:nvSpPr>
          <p:cNvPr id="4" name="Body 11"/>
          <p:cNvSpPr txBox="1"/>
          <p:nvPr/>
        </p:nvSpPr>
        <p:spPr>
          <a:xfrm>
            <a:off x="914400" y="1920240"/>
            <a:ext cx="103632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171450">
              <a:buChar char="•"/>
            </a:pPr>
            <a:r>
              <a:rPr lang="ru-RU" sz="2200" dirty="0"/>
              <a:t>Проект соответствует ТЗ и охватывает паттерны из всех этапов.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Система не только демонстрационная: паттерны встроены в реальные части приложения.</a:t>
            </a:r>
            <a:endParaRPr lang="ru-RU" sz="2200" dirty="0"/>
          </a:p>
          <a:p>
            <a:pPr marL="342900" indent="-171450">
              <a:buChar char="•"/>
            </a:pPr>
            <a:r>
              <a:rPr lang="ru-RU" sz="2200" dirty="0"/>
              <a:t>Материалы защиты: диаграммы BPMN, ERD, state machine, class diagram, use case, рассказ и электронная доска.</a:t>
            </a:r>
            <a:endParaRPr lang="ru-RU" sz="2200" dirty="0"/>
          </a:p>
        </p:txBody>
      </p:sp>
      <p:sp>
        <p:nvSpPr>
          <p:cNvPr id="5" name="Footer 11"/>
          <p:cNvSpPr txBox="1"/>
          <p:nvPr/>
        </p:nvSpPr>
        <p:spPr>
          <a:xfrm>
            <a:off x="914400" y="6400800"/>
            <a:ext cx="32004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200">
                <a:solidFill>
                  <a:srgbClr val="666666"/>
                </a:solidFill>
              </a:rPr>
              <a:t>Anime Shelf • Семестровый проект</a:t>
            </a:r>
            <a:endParaRPr lang="ru-RU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7171F"/>
      </a:dk1>
      <a:lt1>
        <a:srgbClr val="F6F4EF"/>
      </a:lt1>
      <a:dk2>
        <a:srgbClr val="2F3340"/>
      </a:dk2>
      <a:lt2>
        <a:srgbClr val="FFFFFF"/>
      </a:lt2>
      <a:accent1>
        <a:srgbClr val="D83A52"/>
      </a:accent1>
      <a:accent2>
        <a:srgbClr val="F0A23B"/>
      </a:accent2>
      <a:accent3>
        <a:srgbClr val="3C7B7F"/>
      </a:accent3>
      <a:accent4>
        <a:srgbClr val="5884C4"/>
      </a:accent4>
      <a:accent5>
        <a:srgbClr val="8D5A97"/>
      </a:accent5>
      <a:accent6>
        <a:srgbClr val="748E54"/>
      </a:accent6>
      <a:hlink>
        <a:srgbClr val="0563C1"/>
      </a:hlink>
      <a:folHlink>
        <a:srgbClr val="954F72"/>
      </a:folHlink>
    </a:clrScheme>
    <a:fontScheme name="Simpl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dk1"/>
          </a:solidFill>
        </a:ln>
        <a:ln w="25400">
          <a:solidFill>
            <a:schemeClr val="accent1"/>
          </a:solidFill>
        </a:ln>
        <a:ln w="3810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Shelf Presentation</dc:title>
  <dc:subject>Семестровый проект по паттернам проектирования</dc:subject>
  <dc:creator>Codex</dc:creator>
  <cp:keywords>Anime Shelf; patterns; Django; semester project</cp:keywords>
  <dc:description>Презентация проекта Anime Shelf по ТЗ семестровой работы.</dc:description>
  <cp:lastModifiedBy>Codex</cp:lastModifiedBy>
  <dcterms:created xsi:type="dcterms:W3CDTF">2026-05-19T09:13:57Z</dcterms:created>
  <dcterms:modified xsi:type="dcterms:W3CDTF">2026-05-19T09:13:57Z</dcterms:modified>
</cp:coreProperties>
</file>